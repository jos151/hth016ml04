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 seconds</a:t>
            </a:r>
          </a:p>
          <a:p/>
          <a:p>
            <a:r>
              <a:t>Good morning, judges and mentors. Today we are presenting our solution for Smart Demand Forecasting and Inventory Allocation.</a:t>
            </a:r>
          </a:p>
          <a:p/>
          <a:p>
            <a:r>
              <a:t>Retailers often have limited inventory in their central warehouse, but experience vastly different customer demand at each individual retail store. Our platform bridges this critical gap: it predicts future store-level demand and recommends how available stock should be distributed fairly and efficiently to eliminate stockouts and minimize excess inventory.</a:t>
            </a:r>
          </a:p>
          <a:p/>
          <a:p>
            <a:r>
              <a:t>Sources:</a:t>
            </a:r>
          </a:p>
          <a:p>
            <a:r>
              <a:t>- Visual on this slide was generated with Microsoft Copilot.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Let's look at the operational dilemma every inventory manager faces daily.</a:t>
            </a:r>
          </a:p>
          <a:p/>
          <a:p>
            <a:r>
              <a:t>In a retail network, no two stores are alike. Store A in a bustling city center might sell twice as fast as Store C in a suburb. On top of that, weekend rushes, promotional discounts, and holiday weeks introduce dramatic demand volatility.</a:t>
            </a:r>
          </a:p>
          <a:p/>
          <a:p>
            <a:r>
              <a:t>Meanwhile, upstream warehouse inventory is strictly finite. When aggregate demand across all stores exceeds available supply—like in our controlled scenario where three stores demand 1,200 units, but our warehouse only has 1,000 units—a shortage of 200 units is unavoidable.</a:t>
            </a:r>
          </a:p>
          <a:p/>
          <a:p>
            <a:r>
              <a:t>The wrong decision is to divide the stock equally: giving each store 333 units would leave Store A with a massive 167-unit stockout while oversupplying Store C beyond its needs. We need smart, demand-proportional allocation.</a:t>
            </a:r>
          </a:p>
          <a:p/>
          <a:p>
            <a:r>
              <a:t>Sources:</a:t>
            </a:r>
          </a:p>
          <a:p>
            <a:r>
              <a:t>- Visual on this slide was generated with Microsoft Copilot.</a:t>
            </a:r>
          </a:p>
          <a:p>
            <a:r>
              <a:t>- Data Source: Project-controlled demonstration scenario.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a:t>
            </a:r>
          </a:p>
          <a:p/>
          <a:p>
            <a:r>
              <a:t>Here is the six-stage architecture powering our solution, moving smoothly from raw data to actionable store decisions.</a:t>
            </a:r>
          </a:p>
          <a:p/>
          <a:p>
            <a:r>
              <a:t>First, we ingest historical point-of-sale transactions and clean the data across a complete Cartesian grid.</a:t>
            </a:r>
          </a:p>
          <a:p/>
          <a:p>
            <a:r>
              <a:t>Second, our forecasting engine models day-of-week seasonality on top of a 7-day rolling baseline, capturing cyclical shopping habits.</a:t>
            </a:r>
          </a:p>
          <a:p/>
          <a:p>
            <a:r>
              <a:t>Third, managers can simulate demand uplifts: promotions apply multiplier boosts to targeted stores, and holiday weeks scale demand across the network.</a:t>
            </a:r>
          </a:p>
          <a:p/>
          <a:p>
            <a:r>
              <a:t>Fourth, the manager inputs the actual warehouse inventory available for rationing.</a:t>
            </a:r>
          </a:p>
          <a:p/>
          <a:p>
            <a:r>
              <a:t>Fifth, our rationing engine applies Hare-Niemeyer largest-remainder integer math, or our optional PuLP mixed-integer linear programming solver, to eliminate fractional units and guarantee zero inventory wastage.</a:t>
            </a:r>
          </a:p>
          <a:p/>
          <a:p>
            <a:r>
              <a:t>Finally, store allocation schedules, stockout alerts, and multi-tab Excel reports are exported.</a:t>
            </a:r>
          </a:p>
          <a:p/>
          <a:p>
            <a:r>
              <a:t>The core principle is simple: every store receives whole units strictly according to its forecast demand share.</a:t>
            </a:r>
          </a:p>
          <a:p/>
          <a:p>
            <a:r>
              <a:t>Sources:</a:t>
            </a:r>
          </a:p>
          <a:p>
            <a:r>
              <a:t>- Visual on this slide was generated with Microsoft Copilot.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~75 seconds</a:t>
            </a:r>
          </a:p>
          <a:p/>
          <a:p>
            <a:r>
              <a:t>To make this powerful forecasting and rationing logic usable for business operators, we packaged the complete pipeline into an intuitive, interactive Streamlit web dashboard backed by a high-performance FastAPI service.</a:t>
            </a:r>
          </a:p>
          <a:p/>
          <a:p>
            <a:r>
              <a:t>Here is the user workflow:</a:t>
            </a:r>
          </a:p>
          <a:p>
            <a:r>
              <a:t>First, planners select their active store and SKU parameters in the sidebar. They choose a forecast horizon—like 7 days—and enter the available warehouse inventory.</a:t>
            </a:r>
          </a:p>
          <a:p/>
          <a:p>
            <a:r>
              <a:t>With one click, the platform runs the forecasting and allocation engine. The Executive Dashboard instantly surfaces high-level KPI cards: total demand, total allocated units, system shortage, and overall network fill rate.</a:t>
            </a:r>
          </a:p>
          <a:p/>
          <a:p>
            <a:r>
              <a:t>Interactive bar charts allow planners to visually compare demand against allocated stock for every store, while prioritized alert cards flag high-risk stockout locations.</a:t>
            </a:r>
          </a:p>
          <a:p/>
          <a:p>
            <a:r>
              <a:t>Finally, operators can simulate promotional elasticity or download an 8-worksheet audit-ready Excel workbook with complete mathematical validation checks.</a:t>
            </a:r>
          </a:p>
          <a:p/>
          <a:p>
            <a:r>
              <a:t>Sources:</a:t>
            </a:r>
          </a:p>
          <a:p>
            <a:r>
              <a:t>- Source: Design Representation: Streamlit Web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~90 seconds</a:t>
            </a:r>
          </a:p>
          <a:p/>
          <a:p>
            <a:r>
              <a:t>Here are the concrete results from our controlled demonstration, validating how proportional largest-remainder math solves the scarcity dilemma.</a:t>
            </a:r>
          </a:p>
          <a:p/>
          <a:p>
            <a:r>
              <a:t>Looking at the table and grouped bar chart:</a:t>
            </a:r>
          </a:p>
          <a:p>
            <a:r>
              <a:t>Store A demanded 500 units and receives 417 units, leaving a shortage of 83.</a:t>
            </a:r>
          </a:p>
          <a:p>
            <a:r>
              <a:t>Store B demanded 400 units and receives 333 units, leaving a shortage of 67.</a:t>
            </a:r>
          </a:p>
          <a:p>
            <a:r>
              <a:t>Store C demanded 300 units and receives 250 units, leaving a shortage of 50.</a:t>
            </a:r>
          </a:p>
          <a:p/>
          <a:p>
            <a:r>
              <a:t>Notice what this achieves: every store achieves a balanced fill rate of approximately 83.3%. The system does not eliminate the 200-unit shortage—because available supply is fixed at 1,000—but it distributes that shortage fairly across stores in exact proportion to demand velocity.</a:t>
            </a:r>
          </a:p>
          <a:p/>
          <a:p>
            <a:r>
              <a:t>Furthermore, our automated test suite validates four mathematical conservation laws across every execution:</a:t>
            </a:r>
          </a:p>
          <a:p>
            <a:r>
              <a:t>1. Total allocation equals warehouse supply without inventory loss.</a:t>
            </a:r>
          </a:p>
          <a:p>
            <a:r>
              <a:t>2. No store receives more than its demand.</a:t>
            </a:r>
          </a:p>
          <a:p>
            <a:r>
              <a:t>3. Allocation plus shortage balances demand.</a:t>
            </a:r>
          </a:p>
          <a:p>
            <a:r>
              <a:t>4. All allocations are whole integers—essential for physical retail boxes.</a:t>
            </a:r>
          </a:p>
          <a:p/>
          <a:p>
            <a:r>
              <a:t>On historical out-of-sample data, our seasonal baseline achieves a Weighted Absolute Percentage Error of just 3.33%.</a:t>
            </a:r>
          </a:p>
          <a:p/>
          <a:p>
            <a:r>
              <a:t>Sources:</a:t>
            </a:r>
          </a:p>
          <a:p>
            <a:r>
              <a:t>- Source: Project-controlled test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~60 seconds</a:t>
            </a:r>
          </a:p>
          <a:p/>
          <a:p>
            <a:r>
              <a:t>To conclude, let's look at the operational impact, current boundaries, and future potential of our platform.</a:t>
            </a:r>
          </a:p>
          <a:p/>
          <a:p>
            <a:r>
              <a:t>Business Impact: Retailers gain immediate clarity. Instead of guessing replenishment orders, stores receive fair, demand-backed stock that minimizes lost sales while protecting against inventory holding costs.</a:t>
            </a:r>
          </a:p>
          <a:p/>
          <a:p>
            <a:r>
              <a:t>Current Limitations: Today, our baseline depends on historical point-of-sale transaction depth, models a single-warehouse tier, and requires available inventory to be user-provided.</a:t>
            </a:r>
          </a:p>
          <a:p/>
          <a:p>
            <a:r>
              <a:t>Future Roadmap: We plan to expand into multi-echelon network optimization, integrate advanced probabilistic ML models like DeepAR, automate supplier lead-time reordering, and deploy our native Android mobile application for on-the-go warehouse operations.</a:t>
            </a:r>
          </a:p>
          <a:p/>
          <a:p>
            <a:r>
              <a:t>From prediction to allocation, our system empowers retailers to make practical, data-driven inventory decisions.</a:t>
            </a:r>
          </a:p>
          <a:p/>
          <a:p>
            <a:r>
              <a:t>Thank you, and we welcome your questions.</a:t>
            </a:r>
          </a:p>
          <a:p/>
          <a:p>
            <a:r>
              <a:t>Sources:</a:t>
            </a:r>
          </a:p>
          <a:p>
            <a:r>
              <a:t>- Visual on this slide was generated with Microsoft Copilot.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914400"/>
            <a:ext cx="10698480" cy="2011680"/>
          </a:xfrm>
          <a:prstGeom prst="rect">
            <a:avLst/>
          </a:prstGeom>
          <a:noFill/>
        </p:spPr>
        <p:txBody>
          <a:bodyPr wrap="square">
            <a:spAutoFit/>
          </a:bodyPr>
          <a:lstStyle/>
          <a:p>
            <a:pPr>
              <a:spcAft>
                <a:spcPts val="1200"/>
              </a:spcAft>
              <a:defRPr sz="1100" b="1">
                <a:solidFill>
                  <a:srgbClr val="38BDF8"/>
                </a:solidFill>
              </a:defRPr>
            </a:pPr>
            <a:r>
              <a:t>RETAIL SUPPLY CHAIN INTELLIGENCE | HACKATHON 2026</a:t>
            </a:r>
          </a:p>
          <a:p>
            <a:pPr>
              <a:spcAft>
                <a:spcPts val="800"/>
              </a:spcAft>
              <a:defRPr sz="3200" b="1">
                <a:solidFill>
                  <a:srgbClr val="FFFFFF"/>
                </a:solidFill>
              </a:defRPr>
            </a:pPr>
            <a:r>
              <a:t>Smart Demand Forecasting and Inventory Allocation</a:t>
            </a:r>
          </a:p>
          <a:p>
            <a:pPr>
              <a:spcAft>
                <a:spcPts val="1400"/>
              </a:spcAft>
              <a:defRPr sz="1800">
                <a:solidFill>
                  <a:srgbClr val="94A3B8"/>
                </a:solidFill>
              </a:defRPr>
            </a:pPr>
            <a:r>
              <a:t>Predict demand and distribute limited stock efficiently</a:t>
            </a:r>
          </a:p>
          <a:p>
            <a:pPr>
              <a:defRPr sz="1300" i="1">
                <a:solidFill>
                  <a:srgbClr val="E2E8F0"/>
                </a:solidFill>
              </a:defRPr>
            </a:pPr>
            <a:r>
              <a:t>"The system predicts store demand and recommends how limited inventory should be distributed."</a:t>
            </a:r>
          </a:p>
        </p:txBody>
      </p:sp>
      <p:pic>
        <p:nvPicPr>
          <p:cNvPr id="4" name="Picture 3" descr="slide1_supply_chain_flow.png"/>
          <p:cNvPicPr>
            <a:picLocks noChangeAspect="1"/>
          </p:cNvPicPr>
          <p:nvPr/>
        </p:nvPicPr>
        <p:blipFill>
          <a:blip r:embed="rId2"/>
          <a:stretch>
            <a:fillRect/>
          </a:stretch>
        </p:blipFill>
        <p:spPr>
          <a:xfrm>
            <a:off x="1371600" y="3108960"/>
            <a:ext cx="9445752" cy="4198112"/>
          </a:xfrm>
          <a:prstGeom prst="rect">
            <a:avLst/>
          </a:prstGeom>
        </p:spPr>
      </p:pic>
      <p:sp>
        <p:nvSpPr>
          <p:cNvPr id="5" name="TextBox 4"/>
          <p:cNvSpPr txBox="1"/>
          <p:nvPr/>
        </p:nvSpPr>
        <p:spPr>
          <a:xfrm>
            <a:off x="731520" y="6217920"/>
            <a:ext cx="10698480" cy="365760"/>
          </a:xfrm>
          <a:prstGeom prst="rect">
            <a:avLst/>
          </a:prstGeom>
          <a:noFill/>
        </p:spPr>
        <p:txBody>
          <a:bodyPr wrap="none">
            <a:spAutoFit/>
          </a:bodyPr>
          <a:lstStyle/>
          <a:p>
            <a:pPr>
              <a:defRPr sz="1000">
                <a:solidFill>
                  <a:srgbClr val="64748B"/>
                </a:solidFill>
              </a:defRPr>
            </a:pPr>
            <a:r>
              <a:t>Team: Antigravity Solutions  |  Focus: Retail POS Analytics, Seasonality, &amp; Constrained Rationing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MARKET REALITY &amp; SUPPLY SCARCITY</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0F172A"/>
                </a:solidFill>
              </a:defRPr>
            </a:pPr>
            <a:r>
              <a:t>The Problem We Are Solving</a:t>
            </a:r>
          </a:p>
        </p:txBody>
      </p:sp>
      <p:sp>
        <p:nvSpPr>
          <p:cNvPr id="5" name="TextBox 4"/>
          <p:cNvSpPr txBox="1"/>
          <p:nvPr/>
        </p:nvSpPr>
        <p:spPr>
          <a:xfrm>
            <a:off x="731520" y="1463040"/>
            <a:ext cx="5303520" cy="3657600"/>
          </a:xfrm>
          <a:prstGeom prst="rect">
            <a:avLst/>
          </a:prstGeom>
          <a:noFill/>
        </p:spPr>
        <p:txBody>
          <a:bodyPr wrap="square">
            <a:spAutoFit/>
          </a:bodyPr>
          <a:lstStyle/>
          <a:p>
            <a:pPr>
              <a:spcAft>
                <a:spcPts val="1400"/>
              </a:spcAft>
              <a:defRPr sz="1300">
                <a:solidFill>
                  <a:srgbClr val="0F172A"/>
                </a:solidFill>
              </a:defRPr>
            </a:pPr>
            <a:r>
              <a:t>•  Each retail store experiences distinct customer demand patterns.</a:t>
            </a:r>
          </a:p>
          <a:p>
            <a:pPr>
              <a:spcAft>
                <a:spcPts val="1400"/>
              </a:spcAft>
              <a:defRPr sz="1300">
                <a:solidFill>
                  <a:srgbClr val="0F172A"/>
                </a:solidFill>
              </a:defRPr>
            </a:pPr>
            <a:r>
              <a:t>•  Demand surges during weekends, calendar holidays, and promotions.</a:t>
            </a:r>
          </a:p>
          <a:p>
            <a:pPr>
              <a:spcAft>
                <a:spcPts val="1400"/>
              </a:spcAft>
              <a:defRPr sz="1300">
                <a:solidFill>
                  <a:srgbClr val="0F172A"/>
                </a:solidFill>
              </a:defRPr>
            </a:pPr>
            <a:r>
              <a:t>•  Central warehouse stock is strictly limited and cannot meet peak demand.</a:t>
            </a:r>
          </a:p>
          <a:p>
            <a:pPr>
              <a:spcAft>
                <a:spcPts val="1400"/>
              </a:spcAft>
              <a:defRPr sz="1300">
                <a:solidFill>
                  <a:srgbClr val="0F172A"/>
                </a:solidFill>
              </a:defRPr>
            </a:pPr>
            <a:r>
              <a:t>•  Poor allocation causes costly stockouts in high-demand stores.</a:t>
            </a:r>
          </a:p>
          <a:p>
            <a:pPr>
              <a:spcAft>
                <a:spcPts val="1400"/>
              </a:spcAft>
              <a:defRPr sz="1300">
                <a:solidFill>
                  <a:srgbClr val="0F172A"/>
                </a:solidFill>
              </a:defRPr>
            </a:pPr>
            <a:r>
              <a:t>•  Oversupplying slower stores leads to trapped capital and surplus waste.</a:t>
            </a:r>
          </a:p>
        </p:txBody>
      </p:sp>
      <p:sp>
        <p:nvSpPr>
          <p:cNvPr id="6" name="Rounded Rectangle 5"/>
          <p:cNvSpPr/>
          <p:nvPr/>
        </p:nvSpPr>
        <p:spPr>
          <a:xfrm>
            <a:off x="731520" y="4480560"/>
            <a:ext cx="5303520" cy="1737360"/>
          </a:xfrm>
          <a:prstGeom prst="roundRect">
            <a:avLst/>
          </a:prstGeom>
          <a:solidFill>
            <a:srgbClr val="F1F5F9"/>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0284C7"/>
                </a:solidFill>
              </a:defRPr>
            </a:pPr>
            <a:r>
              <a:t>THE CENTRAL CHALLENGE (Controlled Example)</a:t>
            </a:r>
          </a:p>
          <a:p>
            <a:pPr>
              <a:defRPr sz="1150" b="1">
                <a:solidFill>
                  <a:srgbClr val="0F172A"/>
                </a:solidFill>
              </a:defRPr>
            </a:pPr>
            <a:r>
              <a:t>Total Store Demand = 1,200 units  |  Available Stock = 1,000 units</a:t>
            </a:r>
            <a:br/>
            <a:r>
              <a:t>System Shortage = 200 units (Shortfall)</a:t>
            </a:r>
            <a:br/>
            <a:r>
              <a:t>Central Question: How should the available 1,000 units be distributed?</a:t>
            </a:r>
          </a:p>
        </p:txBody>
      </p:sp>
      <p:pic>
        <p:nvPicPr>
          <p:cNvPr id="7" name="Picture 6" descr="slide2_demand_gap_chart.png"/>
          <p:cNvPicPr>
            <a:picLocks noChangeAspect="1"/>
          </p:cNvPicPr>
          <p:nvPr/>
        </p:nvPicPr>
        <p:blipFill>
          <a:blip r:embed="rId2"/>
          <a:stretch>
            <a:fillRect/>
          </a:stretch>
        </p:blipFill>
        <p:spPr>
          <a:xfrm>
            <a:off x="6309360" y="1463040"/>
            <a:ext cx="5212080" cy="2902931"/>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END-TO-END DECISION PIPELINE</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0F172A"/>
                </a:solidFill>
              </a:defRPr>
            </a:pPr>
            <a:r>
              <a:t>How Our Solution Works</a:t>
            </a:r>
          </a:p>
        </p:txBody>
      </p:sp>
      <p:pic>
        <p:nvPicPr>
          <p:cNvPr id="5" name="Picture 4" descr="slide3_solution_workflow.png"/>
          <p:cNvPicPr>
            <a:picLocks noChangeAspect="1"/>
          </p:cNvPicPr>
          <p:nvPr/>
        </p:nvPicPr>
        <p:blipFill>
          <a:blip r:embed="rId2"/>
          <a:stretch>
            <a:fillRect/>
          </a:stretch>
        </p:blipFill>
        <p:spPr>
          <a:xfrm>
            <a:off x="731520" y="1371600"/>
            <a:ext cx="10698480" cy="4318652"/>
          </a:xfrm>
          <a:prstGeom prst="rect">
            <a:avLst/>
          </a:prstGeom>
        </p:spPr>
      </p:pic>
      <p:sp>
        <p:nvSpPr>
          <p:cNvPr id="6" name="TextBox 5"/>
          <p:cNvSpPr txBox="1"/>
          <p:nvPr/>
        </p:nvSpPr>
        <p:spPr>
          <a:xfrm>
            <a:off x="731520" y="4297680"/>
            <a:ext cx="10698480" cy="1463040"/>
          </a:xfrm>
          <a:prstGeom prst="rect">
            <a:avLst/>
          </a:prstGeom>
          <a:noFill/>
        </p:spPr>
        <p:txBody>
          <a:bodyPr wrap="square">
            <a:spAutoFit/>
          </a:bodyPr>
          <a:lstStyle/>
          <a:p>
            <a:pPr>
              <a:spcAft>
                <a:spcPts val="800"/>
              </a:spcAft>
              <a:defRPr sz="1250">
                <a:solidFill>
                  <a:srgbClr val="0F172A"/>
                </a:solidFill>
              </a:defRPr>
            </a:pPr>
            <a:r>
              <a:t>•  Predict demand by store and product using historical rolling baselines and day-of-week seasonality.</a:t>
            </a:r>
          </a:p>
          <a:p>
            <a:pPr>
              <a:spcAft>
                <a:spcPts val="800"/>
              </a:spcAft>
              <a:defRPr sz="1250">
                <a:solidFill>
                  <a:srgbClr val="0F172A"/>
                </a:solidFill>
              </a:defRPr>
            </a:pPr>
            <a:r>
              <a:t>•  Adjust demand dynamically for targeted store promotions (+30%) and holiday weeks (+15%).</a:t>
            </a:r>
          </a:p>
          <a:p>
            <a:pPr>
              <a:spcAft>
                <a:spcPts val="800"/>
              </a:spcAft>
              <a:defRPr sz="1250">
                <a:solidFill>
                  <a:srgbClr val="0F172A"/>
                </a:solidFill>
              </a:defRPr>
            </a:pPr>
            <a:r>
              <a:t>•  Compare total predicted demand against available warehouse stock to identify systemic shortages.</a:t>
            </a:r>
          </a:p>
          <a:p>
            <a:pPr>
              <a:spcAft>
                <a:spcPts val="800"/>
              </a:spcAft>
              <a:defRPr sz="1250">
                <a:solidFill>
                  <a:srgbClr val="0F172A"/>
                </a:solidFill>
              </a:defRPr>
            </a:pPr>
            <a:r>
              <a:t>•  Allocate stock according to forecasted demand shares using discrete largest-remainder integer math.</a:t>
            </a:r>
          </a:p>
        </p:txBody>
      </p:sp>
      <p:sp>
        <p:nvSpPr>
          <p:cNvPr id="7" name="Rounded Rectangle 6"/>
          <p:cNvSpPr/>
          <p:nvPr/>
        </p:nvSpPr>
        <p:spPr>
          <a:xfrm>
            <a:off x="731520" y="5669280"/>
            <a:ext cx="10698480" cy="731520"/>
          </a:xfrm>
          <a:prstGeom prst="roundRect">
            <a:avLst/>
          </a:prstGeom>
          <a:solidFill>
            <a:srgbClr val="EFF6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284C7"/>
                </a:solidFill>
              </a:defRPr>
            </a:pPr>
            <a:r>
              <a:t>Core Allocation Rule: "When supply is limited, each store receives stock based on its share of forecasted demand."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INTERACTIVE DECISION-SUPPORT PLATFORM</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0F172A"/>
                </a:solidFill>
              </a:defRPr>
            </a:pPr>
            <a:r>
              <a:t>Web Application Features</a:t>
            </a:r>
          </a:p>
        </p:txBody>
      </p:sp>
      <p:sp>
        <p:nvSpPr>
          <p:cNvPr id="5" name="TextBox 4"/>
          <p:cNvSpPr txBox="1"/>
          <p:nvPr/>
        </p:nvSpPr>
        <p:spPr>
          <a:xfrm>
            <a:off x="731520" y="1371600"/>
            <a:ext cx="4846320" cy="2926080"/>
          </a:xfrm>
          <a:prstGeom prst="rect">
            <a:avLst/>
          </a:prstGeom>
          <a:noFill/>
        </p:spPr>
        <p:txBody>
          <a:bodyPr wrap="square">
            <a:spAutoFit/>
          </a:bodyPr>
          <a:lstStyle/>
          <a:p>
            <a:pPr>
              <a:spcAft>
                <a:spcPts val="800"/>
              </a:spcAft>
              <a:defRPr sz="1100" b="1">
                <a:solidFill>
                  <a:srgbClr val="0284C7"/>
                </a:solidFill>
              </a:defRPr>
            </a:pPr>
            <a:r>
              <a:t>CORE PLATFORM CAPABILITIES</a:t>
            </a:r>
          </a:p>
          <a:p>
            <a:pPr>
              <a:spcAft>
                <a:spcPts val="600"/>
              </a:spcAft>
              <a:defRPr sz="1100">
                <a:solidFill>
                  <a:srgbClr val="0F172A"/>
                </a:solidFill>
              </a:defRPr>
            </a:pPr>
            <a:r>
              <a:t>•  Store and SKU demand forecasts with empirical uncertainty bounds.</a:t>
            </a:r>
          </a:p>
          <a:p>
            <a:pPr>
              <a:spcAft>
                <a:spcPts val="600"/>
              </a:spcAft>
              <a:defRPr sz="1100">
                <a:solidFill>
                  <a:srgbClr val="0F172A"/>
                </a:solidFill>
              </a:defRPr>
            </a:pPr>
            <a:r>
              <a:t>•  Inventory input and automated largest-remainder quota rationing.</a:t>
            </a:r>
          </a:p>
          <a:p>
            <a:pPr>
              <a:spcAft>
                <a:spcPts val="600"/>
              </a:spcAft>
              <a:defRPr sz="1100">
                <a:solidFill>
                  <a:srgbClr val="0F172A"/>
                </a:solidFill>
              </a:defRPr>
            </a:pPr>
            <a:r>
              <a:t>•  Real-time shortage, excess, and stockout risk alerts.</a:t>
            </a:r>
          </a:p>
          <a:p>
            <a:pPr>
              <a:spcAft>
                <a:spcPts val="600"/>
              </a:spcAft>
              <a:defRPr sz="1100">
                <a:solidFill>
                  <a:srgbClr val="0F172A"/>
                </a:solidFill>
              </a:defRPr>
            </a:pPr>
            <a:r>
              <a:t>•  What-if simulation for promotional (+30%) and holiday (+15%) uplifts.</a:t>
            </a:r>
          </a:p>
          <a:p>
            <a:pPr>
              <a:spcAft>
                <a:spcPts val="600"/>
              </a:spcAft>
              <a:defRPr sz="1100">
                <a:solidFill>
                  <a:srgbClr val="0F172A"/>
                </a:solidFill>
              </a:defRPr>
            </a:pPr>
            <a:r>
              <a:t>•  Side-by-side baseline vs scenario comparison metrics.</a:t>
            </a:r>
          </a:p>
          <a:p>
            <a:pPr>
              <a:spcAft>
                <a:spcPts val="600"/>
              </a:spcAft>
              <a:defRPr sz="1100">
                <a:solidFill>
                  <a:srgbClr val="0F172A"/>
                </a:solidFill>
              </a:defRPr>
            </a:pPr>
            <a:r>
              <a:t>•  One-click 8-worksheet Excel workbook &amp; CSV report downloads.</a:t>
            </a:r>
          </a:p>
        </p:txBody>
      </p:sp>
      <p:sp>
        <p:nvSpPr>
          <p:cNvPr id="6" name="Rounded Rectangle 5"/>
          <p:cNvSpPr/>
          <p:nvPr/>
        </p:nvSpPr>
        <p:spPr>
          <a:xfrm>
            <a:off x="731520" y="4389120"/>
            <a:ext cx="4846320" cy="201168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400"/>
              </a:spcAft>
              <a:defRPr sz="1050" b="1">
                <a:solidFill>
                  <a:srgbClr val="0F172A"/>
                </a:solidFill>
              </a:defRPr>
            </a:pPr>
            <a:r>
              <a:t>SIMPLE 6-STEP DECISION FLOW</a:t>
            </a:r>
          </a:p>
          <a:p>
            <a:pPr>
              <a:defRPr sz="950">
                <a:solidFill>
                  <a:srgbClr val="475569"/>
                </a:solidFill>
              </a:defRPr>
            </a:pPr>
            <a:r>
              <a:t>1. Select stores and product SKUs</a:t>
            </a:r>
          </a:p>
          <a:p>
            <a:pPr>
              <a:defRPr sz="950">
                <a:solidFill>
                  <a:srgbClr val="475569"/>
                </a:solidFill>
              </a:defRPr>
            </a:pPr>
            <a:r>
              <a:t>2. Choose forecast horizon (7-30 days)</a:t>
            </a:r>
          </a:p>
          <a:p>
            <a:pPr>
              <a:defRPr sz="950">
                <a:solidFill>
                  <a:srgbClr val="475569"/>
                </a:solidFill>
              </a:defRPr>
            </a:pPr>
            <a:r>
              <a:t>3. Enter available warehouse inventory</a:t>
            </a:r>
          </a:p>
          <a:p>
            <a:pPr>
              <a:defRPr sz="950">
                <a:solidFill>
                  <a:srgbClr val="475569"/>
                </a:solidFill>
              </a:defRPr>
            </a:pPr>
            <a:r>
              <a:t>4. Run proportional or LP allocation</a:t>
            </a:r>
          </a:p>
          <a:p>
            <a:pPr>
              <a:defRPr sz="950">
                <a:solidFill>
                  <a:srgbClr val="475569"/>
                </a:solidFill>
              </a:defRPr>
            </a:pPr>
            <a:r>
              <a:t>5. Review store shortages &amp; risk alerts</a:t>
            </a:r>
          </a:p>
          <a:p>
            <a:pPr>
              <a:defRPr sz="950">
                <a:solidFill>
                  <a:srgbClr val="475569"/>
                </a:solidFill>
              </a:defRPr>
            </a:pPr>
            <a:r>
              <a:t>6. Export full analytical Excel schedule</a:t>
            </a:r>
          </a:p>
        </p:txBody>
      </p:sp>
      <p:pic>
        <p:nvPicPr>
          <p:cNvPr id="7" name="Picture 6" descr="slide4_dashboard_mockup.png"/>
          <p:cNvPicPr>
            <a:picLocks noChangeAspect="1"/>
          </p:cNvPicPr>
          <p:nvPr/>
        </p:nvPicPr>
        <p:blipFill>
          <a:blip r:embed="rId2"/>
          <a:stretch>
            <a:fillRect/>
          </a:stretch>
        </p:blipFill>
        <p:spPr>
          <a:xfrm>
            <a:off x="5760720" y="1371600"/>
            <a:ext cx="5760720" cy="296764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CONTROLLED DEMONSTRATION &amp; MATHEMATICAL INVARIANTS</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0F172A"/>
                </a:solidFill>
              </a:defRPr>
            </a:pPr>
            <a:r>
              <a:t>Allocation Result</a:t>
            </a:r>
          </a:p>
        </p:txBody>
      </p:sp>
      <p:sp>
        <p:nvSpPr>
          <p:cNvPr id="5" name="TextBox 4"/>
          <p:cNvSpPr txBox="1"/>
          <p:nvPr/>
        </p:nvSpPr>
        <p:spPr>
          <a:xfrm>
            <a:off x="731520" y="1371600"/>
            <a:ext cx="5120640" cy="5029200"/>
          </a:xfrm>
          <a:prstGeom prst="rect">
            <a:avLst/>
          </a:prstGeom>
          <a:noFill/>
        </p:spPr>
        <p:txBody>
          <a:bodyPr wrap="square">
            <a:spAutoFit/>
          </a:bodyPr>
          <a:lstStyle/>
          <a:p>
            <a:pPr>
              <a:spcAft>
                <a:spcPts val="600"/>
              </a:spcAft>
              <a:defRPr sz="1100" b="1">
                <a:solidFill>
                  <a:srgbClr val="0284C7"/>
                </a:solidFill>
              </a:defRPr>
            </a:pPr>
            <a:r>
              <a:t>CONTROLLED DEMONSTRATION OUTCOME</a:t>
            </a:r>
          </a:p>
          <a:p>
            <a:pPr>
              <a:spcAft>
                <a:spcPts val="1200"/>
              </a:spcAft>
              <a:defRPr sz="1050">
                <a:solidFill>
                  <a:srgbClr val="0F172A"/>
                </a:solidFill>
              </a:defRPr>
            </a:pPr>
            <a:r>
              <a:t>•  Store A:  Demand = 500  →  Allocated = 417  |  Shortage = 83  (83.4%)</a:t>
            </a:r>
            <a:br/>
            <a:r>
              <a:t>•  Store B:  Demand = 400  →  Allocated = 333  |  Shortage = 67  (83.3%)</a:t>
            </a:r>
            <a:br/>
            <a:r>
              <a:t>•  Store C:  Demand = 300  →  Allocated = 250  |  Shortage = 50  (83.3%)</a:t>
            </a:r>
            <a:br/>
            <a:r>
              <a:t>•  Summary: Demand = 1,200  |  Supply = 1,000  |  Allocated = 1,000  |  Shortage = 200</a:t>
            </a:r>
          </a:p>
          <a:p>
            <a:pPr>
              <a:spcAft>
                <a:spcPts val="600"/>
              </a:spcAft>
              <a:defRPr sz="1100" b="1">
                <a:solidFill>
                  <a:srgbClr val="059669"/>
                </a:solidFill>
              </a:defRPr>
            </a:pPr>
            <a:r>
              <a:t>MATHEMATICAL INVARIANTS ENFORCED</a:t>
            </a:r>
          </a:p>
          <a:p>
            <a:pPr>
              <a:spcAft>
                <a:spcPts val="400"/>
              </a:spcAft>
              <a:defRPr sz="1000">
                <a:solidFill>
                  <a:srgbClr val="475569"/>
                </a:solidFill>
              </a:defRPr>
            </a:pPr>
            <a:r>
              <a:t>•  Total allocation strictly respects warehouse supply: 417 + 333 + 250 = 1,000.</a:t>
            </a:r>
          </a:p>
          <a:p>
            <a:pPr>
              <a:spcAft>
                <a:spcPts val="400"/>
              </a:spcAft>
              <a:defRPr sz="1000">
                <a:solidFill>
                  <a:srgbClr val="475569"/>
                </a:solidFill>
              </a:defRPr>
            </a:pPr>
            <a:r>
              <a:t>•  No store receives more stock than its forecast demand (Ai &lt;= Di).</a:t>
            </a:r>
          </a:p>
          <a:p>
            <a:pPr>
              <a:spcAft>
                <a:spcPts val="400"/>
              </a:spcAft>
              <a:defRPr sz="1000">
                <a:solidFill>
                  <a:srgbClr val="475569"/>
                </a:solidFill>
              </a:defRPr>
            </a:pPr>
            <a:r>
              <a:t>•  Allocation plus shortage exactly balances demand (Ai + Si = Di).</a:t>
            </a:r>
          </a:p>
          <a:p>
            <a:pPr>
              <a:spcAft>
                <a:spcPts val="400"/>
              </a:spcAft>
              <a:defRPr sz="1000">
                <a:solidFill>
                  <a:srgbClr val="475569"/>
                </a:solidFill>
              </a:defRPr>
            </a:pPr>
            <a:r>
              <a:t>•  Deterministic whole integer units (zero fractional cases).</a:t>
            </a:r>
          </a:p>
          <a:p>
            <a:br/>
            <a:pPr>
              <a:defRPr sz="950" b="1">
                <a:solidFill>
                  <a:srgbClr val="0F172A"/>
                </a:solidFill>
              </a:defRPr>
            </a:pPr>
            <a:r>
              <a:t>FORECAST EVALUATION ON CHRONOLOGICAL HOLDOUT:</a:t>
            </a:r>
            <a:br/>
            <a:r>
              <a:t>MAE: 6.67 units  |  RMSE: 8.16 units  |  WAPE: 3.33%</a:t>
            </a:r>
            <a:br/>
            <a:r>
              <a:t>Forecast evaluation is performed using chronological test data.</a:t>
            </a:r>
          </a:p>
        </p:txBody>
      </p:sp>
      <p:pic>
        <p:nvPicPr>
          <p:cNvPr id="6" name="Picture 5" descr="slide5_allocation_barchart.png"/>
          <p:cNvPicPr>
            <a:picLocks noChangeAspect="1"/>
          </p:cNvPicPr>
          <p:nvPr/>
        </p:nvPicPr>
        <p:blipFill>
          <a:blip r:embed="rId2"/>
          <a:stretch>
            <a:fillRect/>
          </a:stretch>
        </p:blipFill>
        <p:spPr>
          <a:xfrm>
            <a:off x="6035040" y="1371600"/>
            <a:ext cx="5394960" cy="28369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20040"/>
          </a:xfrm>
          <a:prstGeom prst="rect">
            <a:avLst/>
          </a:prstGeom>
          <a:noFill/>
        </p:spPr>
        <p:txBody>
          <a:bodyPr wrap="square" lIns="0" tIns="0" rIns="0" bIns="0">
            <a:spAutoFit/>
          </a:bodyPr>
          <a:lstStyle/>
          <a:p>
            <a:pPr>
              <a:defRPr sz="1000" b="1">
                <a:solidFill>
                  <a:srgbClr val="0284C7"/>
                </a:solidFill>
              </a:defRPr>
            </a:pPr>
            <a:r>
              <a:t>VALUE DELIVERY &amp; PRODUCT ROADMAP</a:t>
            </a:r>
          </a:p>
        </p:txBody>
      </p:sp>
      <p:sp>
        <p:nvSpPr>
          <p:cNvPr id="4" name="TextBox 3"/>
          <p:cNvSpPr txBox="1"/>
          <p:nvPr/>
        </p:nvSpPr>
        <p:spPr>
          <a:xfrm>
            <a:off x="731520" y="685800"/>
            <a:ext cx="10698480" cy="640080"/>
          </a:xfrm>
          <a:prstGeom prst="rect">
            <a:avLst/>
          </a:prstGeom>
          <a:noFill/>
        </p:spPr>
        <p:txBody>
          <a:bodyPr wrap="square" lIns="0" tIns="0" rIns="0" bIns="0">
            <a:spAutoFit/>
          </a:bodyPr>
          <a:lstStyle/>
          <a:p>
            <a:pPr>
              <a:defRPr sz="2600" b="1">
                <a:solidFill>
                  <a:srgbClr val="0F172A"/>
                </a:solidFill>
              </a:defRPr>
            </a:pPr>
            <a:r>
              <a:t>Impact and Future Development</a:t>
            </a:r>
          </a:p>
        </p:txBody>
      </p:sp>
      <p:pic>
        <p:nvPicPr>
          <p:cNvPr id="5" name="Picture 4" descr="slide6_impact_summary.png"/>
          <p:cNvPicPr>
            <a:picLocks noChangeAspect="1"/>
          </p:cNvPicPr>
          <p:nvPr/>
        </p:nvPicPr>
        <p:blipFill>
          <a:blip r:embed="rId2"/>
          <a:stretch>
            <a:fillRect/>
          </a:stretch>
        </p:blipFill>
        <p:spPr>
          <a:xfrm>
            <a:off x="731520" y="1280160"/>
            <a:ext cx="10698480" cy="4826382"/>
          </a:xfrm>
          <a:prstGeom prst="rect">
            <a:avLst/>
          </a:prstGeom>
        </p:spPr>
      </p:pic>
      <p:sp>
        <p:nvSpPr>
          <p:cNvPr id="6" name="Rounded Rectangle 5"/>
          <p:cNvSpPr/>
          <p:nvPr/>
        </p:nvSpPr>
        <p:spPr>
          <a:xfrm>
            <a:off x="731520" y="5486400"/>
            <a:ext cx="10698480" cy="868680"/>
          </a:xfrm>
          <a:prstGeom prst="roundRect">
            <a:avLst/>
          </a:prstGeom>
          <a:solidFill>
            <a:srgbClr val="0A192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300"/>
              </a:spcAft>
              <a:defRPr sz="1300" b="1">
                <a:solidFill>
                  <a:srgbClr val="FFFFFF"/>
                </a:solidFill>
              </a:defRPr>
            </a:pPr>
            <a:r>
              <a:t>"From prediction to allocation, our system helps retailers make practical inventory decisions."</a:t>
            </a:r>
          </a:p>
          <a:p>
            <a:pPr algn="ctr">
              <a:defRPr sz="1150" b="1">
                <a:solidFill>
                  <a:srgbClr val="38BDF8"/>
                </a:solidFill>
              </a:defRPr>
            </a:pPr>
            <a: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